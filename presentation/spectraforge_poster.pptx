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handoutMasterIdLst>
    <p:handoutMasterId r:id="rId4"/>
  </p:handoutMasterIdLst>
  <p:sldIdLst>
    <p:sldId id="257" r:id="rId2"/>
  </p:sldIdLst>
  <p:sldSz cx="32918400" cy="438912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64"/>
    <p:restoredTop sz="94655"/>
  </p:normalViewPr>
  <p:slideViewPr>
    <p:cSldViewPr snapToGrid="0" snapToObjects="1">
      <p:cViewPr varScale="1">
        <p:scale>
          <a:sx n="25" d="100"/>
          <a:sy n="25" d="100"/>
        </p:scale>
        <p:origin x="4416"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72"/>
    </p:cViewPr>
  </p:sorterViewPr>
  <p:notesViewPr>
    <p:cSldViewPr snapToGrid="0" snapToObjects="1" showGuide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96A8FA-5B42-674C-B20D-1B27C6B6ED8B}" type="datetimeFigureOut">
              <a:rPr lang="en-US" smtClean="0"/>
              <a:t>12/4/25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6A0952-F090-8947-9D2B-4C66FA805076}" type="slidenum">
              <a:rPr lang="en-US" smtClean="0"/>
              <a:t>‹#›</a:t>
            </a:fld>
            <a:endParaRPr lang="en-US"/>
          </a:p>
        </p:txBody>
      </p:sp>
    </p:spTree>
    <p:extLst>
      <p:ext uri="{BB962C8B-B14F-4D97-AF65-F5344CB8AC3E}">
        <p14:creationId xmlns:p14="http://schemas.microsoft.com/office/powerpoint/2010/main" val="1910053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FCF15A-2A27-7442-AB11-75F1A48A6AED}" type="datetimeFigureOut">
              <a:rPr lang="en-US" smtClean="0"/>
              <a:t>12/4/25</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6CBA48-C438-7943-8380-32C73458EABA}" type="slidenum">
              <a:rPr lang="en-US" smtClean="0"/>
              <a:t>‹#›</a:t>
            </a:fld>
            <a:endParaRPr lang="en-US"/>
          </a:p>
        </p:txBody>
      </p:sp>
    </p:spTree>
    <p:extLst>
      <p:ext uri="{BB962C8B-B14F-4D97-AF65-F5344CB8AC3E}">
        <p14:creationId xmlns:p14="http://schemas.microsoft.com/office/powerpoint/2010/main" val="1051626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6CBA48-C438-7943-8380-32C73458EABA}" type="slidenum">
              <a:rPr lang="en-US" smtClean="0"/>
              <a:t>1</a:t>
            </a:fld>
            <a:endParaRPr lang="en-US"/>
          </a:p>
        </p:txBody>
      </p:sp>
    </p:spTree>
    <p:extLst>
      <p:ext uri="{BB962C8B-B14F-4D97-AF65-F5344CB8AC3E}">
        <p14:creationId xmlns:p14="http://schemas.microsoft.com/office/powerpoint/2010/main" val="3271162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Research Poster Template">
    <p:spTree>
      <p:nvGrpSpPr>
        <p:cNvPr id="1" name=""/>
        <p:cNvGrpSpPr/>
        <p:nvPr/>
      </p:nvGrpSpPr>
      <p:grpSpPr>
        <a:xfrm>
          <a:off x="0" y="0"/>
          <a:ext cx="0" cy="0"/>
          <a:chOff x="0" y="0"/>
          <a:chExt cx="0" cy="0"/>
        </a:xfrm>
      </p:grpSpPr>
      <p:cxnSp>
        <p:nvCxnSpPr>
          <p:cNvPr id="16" name="Straight Connector 15"/>
          <p:cNvCxnSpPr/>
          <p:nvPr userDrawn="1"/>
        </p:nvCxnSpPr>
        <p:spPr bwMode="auto">
          <a:xfrm>
            <a:off x="11118028" y="6388482"/>
            <a:ext cx="0" cy="34251518"/>
          </a:xfrm>
          <a:prstGeom prst="line">
            <a:avLst/>
          </a:prstGeom>
          <a:noFill/>
          <a:ln w="25400" cap="flat" cmpd="sng" algn="ctr">
            <a:solidFill>
              <a:schemeClr val="tx1"/>
            </a:solidFill>
            <a:prstDash val="dash"/>
            <a:round/>
            <a:headEnd type="oval" w="med" len="med"/>
            <a:tailEnd type="oval" w="med" len="med"/>
          </a:ln>
          <a:effectLst/>
        </p:spPr>
      </p:cxnSp>
      <p:cxnSp>
        <p:nvCxnSpPr>
          <p:cNvPr id="18" name="Straight Connector 17"/>
          <p:cNvCxnSpPr/>
          <p:nvPr userDrawn="1"/>
        </p:nvCxnSpPr>
        <p:spPr bwMode="auto">
          <a:xfrm>
            <a:off x="21796850" y="6393926"/>
            <a:ext cx="0" cy="34253424"/>
          </a:xfrm>
          <a:prstGeom prst="line">
            <a:avLst/>
          </a:prstGeom>
          <a:noFill/>
          <a:ln w="25400" cap="flat" cmpd="sng" algn="ctr">
            <a:solidFill>
              <a:schemeClr val="tx1"/>
            </a:solidFill>
            <a:prstDash val="dash"/>
            <a:round/>
            <a:headEnd type="oval" w="med" len="med"/>
            <a:tailEnd type="oval" w="med" len="med"/>
          </a:ln>
          <a:effectLst/>
        </p:spPr>
      </p:cxnSp>
      <p:sp>
        <p:nvSpPr>
          <p:cNvPr id="7" name="Picture Placeholder 2"/>
          <p:cNvSpPr>
            <a:spLocks noGrp="1"/>
          </p:cNvSpPr>
          <p:nvPr>
            <p:ph type="pic" sz="quarter" idx="16"/>
          </p:nvPr>
        </p:nvSpPr>
        <p:spPr>
          <a:xfrm>
            <a:off x="914400" y="24148868"/>
            <a:ext cx="9715500" cy="7452360"/>
          </a:xfrm>
          <a:prstGeom prst="rect">
            <a:avLst/>
          </a:prstGeom>
          <a:solidFill>
            <a:schemeClr val="bg2">
              <a:lumMod val="85000"/>
            </a:schemeClr>
          </a:solidFill>
        </p:spPr>
        <p:txBody>
          <a:bodyPr/>
          <a:lstStyle>
            <a:lvl1pPr>
              <a:defRPr sz="2800"/>
            </a:lvl1pPr>
          </a:lstStyle>
          <a:p>
            <a:pPr marL="0" indent="0" algn="ctr">
              <a:buNone/>
            </a:pPr>
            <a:endParaRPr lang="en-US" dirty="0"/>
          </a:p>
        </p:txBody>
      </p:sp>
      <p:sp>
        <p:nvSpPr>
          <p:cNvPr id="8" name="Picture Placeholder 2"/>
          <p:cNvSpPr>
            <a:spLocks noGrp="1"/>
          </p:cNvSpPr>
          <p:nvPr>
            <p:ph type="pic" sz="quarter" idx="17"/>
          </p:nvPr>
        </p:nvSpPr>
        <p:spPr>
          <a:xfrm>
            <a:off x="914400" y="33162240"/>
            <a:ext cx="9715500" cy="7452360"/>
          </a:xfrm>
          <a:prstGeom prst="rect">
            <a:avLst/>
          </a:prstGeom>
          <a:solidFill>
            <a:schemeClr val="bg2">
              <a:lumMod val="85000"/>
            </a:schemeClr>
          </a:solidFill>
        </p:spPr>
        <p:txBody>
          <a:bodyPr/>
          <a:lstStyle>
            <a:lvl1pPr>
              <a:defRPr sz="2800"/>
            </a:lvl1pPr>
          </a:lstStyle>
          <a:p>
            <a:pPr marL="0" indent="0" algn="ctr">
              <a:buNone/>
            </a:pPr>
            <a:endParaRPr lang="en-US" dirty="0"/>
          </a:p>
        </p:txBody>
      </p:sp>
      <p:sp>
        <p:nvSpPr>
          <p:cNvPr id="11" name="Content Placeholder 9"/>
          <p:cNvSpPr>
            <a:spLocks noGrp="1"/>
          </p:cNvSpPr>
          <p:nvPr>
            <p:ph sz="quarter" idx="10"/>
          </p:nvPr>
        </p:nvSpPr>
        <p:spPr>
          <a:xfrm>
            <a:off x="914400" y="6515100"/>
            <a:ext cx="9715500" cy="16399329"/>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9"/>
          <p:cNvSpPr>
            <a:spLocks noGrp="1"/>
          </p:cNvSpPr>
          <p:nvPr>
            <p:ph sz="quarter" idx="18"/>
          </p:nvPr>
        </p:nvSpPr>
        <p:spPr>
          <a:xfrm>
            <a:off x="11618259" y="6515100"/>
            <a:ext cx="9744250" cy="20187557"/>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9"/>
          <p:cNvSpPr>
            <a:spLocks noGrp="1"/>
          </p:cNvSpPr>
          <p:nvPr>
            <p:ph sz="quarter" idx="23"/>
          </p:nvPr>
        </p:nvSpPr>
        <p:spPr>
          <a:xfrm>
            <a:off x="11544300" y="34351737"/>
            <a:ext cx="9771541" cy="6262864"/>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9"/>
          <p:cNvSpPr>
            <a:spLocks noGrp="1"/>
          </p:cNvSpPr>
          <p:nvPr>
            <p:ph sz="quarter" idx="24"/>
          </p:nvPr>
        </p:nvSpPr>
        <p:spPr>
          <a:xfrm>
            <a:off x="11544300" y="27305024"/>
            <a:ext cx="9771541" cy="6408034"/>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2"/>
          <p:cNvSpPr>
            <a:spLocks noGrp="1"/>
          </p:cNvSpPr>
          <p:nvPr>
            <p:ph type="pic" sz="quarter" idx="25"/>
          </p:nvPr>
        </p:nvSpPr>
        <p:spPr>
          <a:xfrm>
            <a:off x="22277860" y="18649950"/>
            <a:ext cx="9798050" cy="7452360"/>
          </a:xfrm>
          <a:prstGeom prst="rect">
            <a:avLst/>
          </a:prstGeom>
          <a:solidFill>
            <a:schemeClr val="bg2">
              <a:lumMod val="85000"/>
            </a:schemeClr>
          </a:solidFill>
        </p:spPr>
        <p:txBody>
          <a:bodyPr/>
          <a:lstStyle>
            <a:lvl1pPr>
              <a:defRPr sz="2800"/>
            </a:lvl1pPr>
          </a:lstStyle>
          <a:p>
            <a:pPr marL="0" indent="0" algn="ctr">
              <a:buNone/>
            </a:pPr>
            <a:endParaRPr lang="en-US" dirty="0"/>
          </a:p>
        </p:txBody>
      </p:sp>
      <p:sp>
        <p:nvSpPr>
          <p:cNvPr id="20" name="Content Placeholder 9"/>
          <p:cNvSpPr>
            <a:spLocks noGrp="1"/>
          </p:cNvSpPr>
          <p:nvPr>
            <p:ph sz="quarter" idx="20"/>
          </p:nvPr>
        </p:nvSpPr>
        <p:spPr>
          <a:xfrm>
            <a:off x="22277860" y="6515100"/>
            <a:ext cx="9798050" cy="11301845"/>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9"/>
          <p:cNvSpPr>
            <a:spLocks noGrp="1"/>
          </p:cNvSpPr>
          <p:nvPr>
            <p:ph sz="quarter" idx="21"/>
          </p:nvPr>
        </p:nvSpPr>
        <p:spPr>
          <a:xfrm>
            <a:off x="22277860" y="26935315"/>
            <a:ext cx="9764240" cy="13679285"/>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11146558"/>
      </p:ext>
    </p:extLst>
  </p:cSld>
  <p:clrMapOvr>
    <a:masterClrMapping/>
  </p:clrMapOvr>
  <p:extLst>
    <p:ext uri="{DCECCB84-F9BA-43D5-87BE-67443E8EF086}">
      <p15:sldGuideLst xmlns:p15="http://schemas.microsoft.com/office/powerpoint/2012/main">
        <p15:guide id="1" orient="horz" pos="26496" userDrawn="1">
          <p15:clr>
            <a:srgbClr val="FBAE40"/>
          </p15:clr>
        </p15:guide>
        <p15:guide id="2" pos="576" userDrawn="1">
          <p15:clr>
            <a:srgbClr val="FBAE40"/>
          </p15:clr>
        </p15:guide>
        <p15:guide id="3" pos="20184" userDrawn="1">
          <p15:clr>
            <a:srgbClr val="FBAE40"/>
          </p15:clr>
        </p15:guide>
        <p15:guide id="4" orient="horz" pos="5016" userDrawn="1">
          <p15:clr>
            <a:srgbClr val="FBAE40"/>
          </p15:clr>
        </p15:guide>
        <p15:guide id="5" pos="13440" userDrawn="1">
          <p15:clr>
            <a:srgbClr val="FBAE40"/>
          </p15:clr>
        </p15:guide>
        <p15:guide id="6" pos="6696" userDrawn="1">
          <p15:clr>
            <a:srgbClr val="FBAE40"/>
          </p15:clr>
        </p15:guide>
        <p15:guide id="7" pos="7272" userDrawn="1">
          <p15:clr>
            <a:srgbClr val="FBAE40"/>
          </p15:clr>
        </p15:guide>
        <p15:guide id="8" pos="140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002578"/>
      </p:ext>
    </p:extLst>
  </p:cSld>
  <p:clrMapOvr>
    <a:masterClrMapping/>
  </p:clrMapOvr>
  <p:extLst>
    <p:ext uri="{DCECCB84-F9BA-43D5-87BE-67443E8EF086}">
      <p15:sldGuideLst xmlns:p15="http://schemas.microsoft.com/office/powerpoint/2012/main">
        <p15:guide id="1" orient="horz" pos="26496">
          <p15:clr>
            <a:srgbClr val="FBAE40"/>
          </p15:clr>
        </p15:guide>
        <p15:guide id="2" pos="576">
          <p15:clr>
            <a:srgbClr val="FBAE40"/>
          </p15:clr>
        </p15:guide>
        <p15:guide id="3" pos="20184">
          <p15:clr>
            <a:srgbClr val="FBAE40"/>
          </p15:clr>
        </p15:guide>
        <p15:guide id="4" orient="horz" pos="5016">
          <p15:clr>
            <a:srgbClr val="FBAE40"/>
          </p15:clr>
        </p15:guide>
        <p15:guide id="5" pos="13440">
          <p15:clr>
            <a:srgbClr val="FBAE40"/>
          </p15:clr>
        </p15:guide>
        <p15:guide id="6" pos="6696">
          <p15:clr>
            <a:srgbClr val="FBAE40"/>
          </p15:clr>
        </p15:guide>
        <p15:guide id="7" pos="7272">
          <p15:clr>
            <a:srgbClr val="FBAE40"/>
          </p15:clr>
        </p15:guide>
        <p15:guide id="8" pos="1401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6"/>
          <p:cNvSpPr>
            <a:spLocks noChangeArrowheads="1"/>
          </p:cNvSpPr>
          <p:nvPr userDrawn="1"/>
        </p:nvSpPr>
        <p:spPr bwMode="auto">
          <a:xfrm>
            <a:off x="0" y="0"/>
            <a:ext cx="32918400" cy="5486400"/>
          </a:xfrm>
          <a:prstGeom prst="rect">
            <a:avLst/>
          </a:prstGeom>
          <a:solidFill>
            <a:srgbClr val="005BBB"/>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sp>
        <p:nvSpPr>
          <p:cNvPr id="5" name="Rectangle 4"/>
          <p:cNvSpPr/>
          <p:nvPr userDrawn="1"/>
        </p:nvSpPr>
        <p:spPr>
          <a:xfrm>
            <a:off x="0" y="5257800"/>
            <a:ext cx="32918400" cy="2612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userDrawn="1"/>
        </p:nvPicPr>
        <p:blipFill rotWithShape="1">
          <a:blip r:embed="rId4">
            <a:alphaModFix amt="41000"/>
            <a:extLst>
              <a:ext uri="{28A0092B-C50C-407E-A947-70E740481C1C}">
                <a14:useLocalDpi xmlns:a14="http://schemas.microsoft.com/office/drawing/2010/main" val="0"/>
              </a:ext>
            </a:extLst>
          </a:blip>
          <a:srcRect t="4395" b="40121"/>
          <a:stretch/>
        </p:blipFill>
        <p:spPr>
          <a:xfrm>
            <a:off x="22093853" y="0"/>
            <a:ext cx="9341680" cy="5256959"/>
          </a:xfrm>
          <a:prstGeom prst="rect">
            <a:avLst/>
          </a:prstGeom>
        </p:spPr>
      </p:pic>
      <p:sp>
        <p:nvSpPr>
          <p:cNvPr id="9" name="Rectangle 36"/>
          <p:cNvSpPr>
            <a:spLocks noChangeArrowheads="1"/>
          </p:cNvSpPr>
          <p:nvPr userDrawn="1"/>
        </p:nvSpPr>
        <p:spPr bwMode="auto">
          <a:xfrm>
            <a:off x="0" y="41382462"/>
            <a:ext cx="32918400" cy="2508738"/>
          </a:xfrm>
          <a:prstGeom prst="rect">
            <a:avLst/>
          </a:prstGeom>
          <a:solidFill>
            <a:srgbClr val="005BBB"/>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pic>
        <p:nvPicPr>
          <p:cNvPr id="10" name="Picture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74733" y="42127545"/>
            <a:ext cx="13595412" cy="1008282"/>
          </a:xfrm>
          <a:prstGeom prst="rect">
            <a:avLst/>
          </a:prstGeom>
        </p:spPr>
      </p:pic>
      <p:cxnSp>
        <p:nvCxnSpPr>
          <p:cNvPr id="11" name="Straight Connector 10"/>
          <p:cNvCxnSpPr/>
          <p:nvPr userDrawn="1"/>
        </p:nvCxnSpPr>
        <p:spPr>
          <a:xfrm>
            <a:off x="21824850" y="41810263"/>
            <a:ext cx="0" cy="1588169"/>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1499162"/>
      </p:ext>
    </p:extLst>
  </p:cSld>
  <p:clrMap bg1="lt1" tx1="dk1" bg2="lt2" tx2="dk2" accent1="accent1" accent2="accent2" accent3="accent3" accent4="accent4" accent5="accent5" accent6="accent6" hlink="hlink" folHlink="folHlink"/>
  <p:sldLayoutIdLst>
    <p:sldLayoutId id="2147483688" r:id="rId1"/>
    <p:sldLayoutId id="2147483689" r:id="rId2"/>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97A8AC9-ACD7-8656-1018-F58ED60A6CE6}"/>
              </a:ext>
            </a:extLst>
          </p:cNvPr>
          <p:cNvSpPr/>
          <p:nvPr/>
        </p:nvSpPr>
        <p:spPr>
          <a:xfrm>
            <a:off x="21738308" y="18363897"/>
            <a:ext cx="326235" cy="225122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97" name="Rectangle 96">
            <a:extLst>
              <a:ext uri="{FF2B5EF4-FFF2-40B4-BE49-F238E27FC236}">
                <a16:creationId xmlns:a16="http://schemas.microsoft.com/office/drawing/2014/main" id="{AE0667E2-0FD1-EF1A-EC02-EEEEF5F8EDBD}"/>
              </a:ext>
            </a:extLst>
          </p:cNvPr>
          <p:cNvSpPr/>
          <p:nvPr/>
        </p:nvSpPr>
        <p:spPr>
          <a:xfrm>
            <a:off x="21474198" y="6217921"/>
            <a:ext cx="621227" cy="125653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Poster Title">
            <a:extLst>
              <a:ext uri="{FF2B5EF4-FFF2-40B4-BE49-F238E27FC236}">
                <a16:creationId xmlns:a16="http://schemas.microsoft.com/office/drawing/2014/main" id="{122F9996-072B-864B-B6D4-4A5589C42C97}"/>
              </a:ext>
            </a:extLst>
          </p:cNvPr>
          <p:cNvSpPr>
            <a:spLocks noChangeArrowheads="1"/>
          </p:cNvSpPr>
          <p:nvPr/>
        </p:nvSpPr>
        <p:spPr bwMode="auto">
          <a:xfrm>
            <a:off x="684102" y="835094"/>
            <a:ext cx="31277859" cy="3908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43" tIns="45614" rIns="91243" bIns="45614">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defRPr/>
            </a:pPr>
            <a:r>
              <a:rPr kumimoji="0" lang="en-US" altLang="en-US" sz="8000" b="1" i="0" u="none" strike="noStrike" kern="1200" cap="none" spc="0" normalizeH="0" baseline="0" noProof="0" dirty="0">
                <a:ln>
                  <a:noFill/>
                </a:ln>
                <a:solidFill>
                  <a:srgbClr val="FFFFFF"/>
                </a:solidFill>
                <a:effectLst/>
                <a:uLnTx/>
                <a:uFillTx/>
                <a:latin typeface="+mn-lt"/>
                <a:ea typeface="Arial" charset="0"/>
                <a:cs typeface="+mn-cs"/>
              </a:rPr>
              <a:t>Predictive Maintenance for Rotating </a:t>
            </a:r>
            <a:r>
              <a:rPr kumimoji="0" lang="en-US" altLang="en-US" sz="8000" b="1" i="0" u="none" strike="noStrike" kern="1200" cap="none" spc="0" normalizeH="0" baseline="0" noProof="0" dirty="0">
                <a:ln>
                  <a:noFill/>
                </a:ln>
                <a:solidFill>
                  <a:srgbClr val="FFFFFF"/>
                </a:solidFill>
                <a:effectLst/>
                <a:uLnTx/>
                <a:uFillTx/>
                <a:latin typeface="Arial" panose="020B0604020202020204"/>
                <a:ea typeface="Arial" charset="0"/>
                <a:cs typeface="+mn-cs"/>
              </a:rPr>
              <a:t>Machinery</a:t>
            </a:r>
          </a:p>
          <a:p>
            <a:pPr>
              <a:defRPr/>
            </a:pPr>
            <a:r>
              <a:rPr lang="en-US" sz="4400" b="0" i="0" dirty="0">
                <a:solidFill>
                  <a:srgbClr val="FFFFFF"/>
                </a:solidFill>
                <a:effectLst/>
                <a:latin typeface="Arial" panose="020B0604020202020204" pitchFamily="34" charset="0"/>
              </a:rPr>
              <a:t>In Partnership with Machinery Monitoring Systems, LLC</a:t>
            </a:r>
            <a:endParaRPr lang="en-US" altLang="en-US" sz="4400" b="1" dirty="0">
              <a:solidFill>
                <a:srgbClr val="FFFFFF"/>
              </a:solidFill>
              <a:latin typeface="+mn-lt"/>
              <a:ea typeface="Arial" charset="0"/>
            </a:endParaRPr>
          </a:p>
          <a:p>
            <a:pPr>
              <a:defRPr/>
            </a:pPr>
            <a:endParaRPr lang="en-US" altLang="en-US" sz="2800" dirty="0">
              <a:solidFill>
                <a:srgbClr val="FFFFFF"/>
              </a:solidFill>
              <a:latin typeface="+mn-lt"/>
              <a:ea typeface="Arial" charset="0"/>
            </a:endParaRPr>
          </a:p>
          <a:p>
            <a:pPr>
              <a:defRPr/>
            </a:pPr>
            <a:r>
              <a:rPr lang="en-US" sz="3200" b="1" i="0" dirty="0">
                <a:solidFill>
                  <a:srgbClr val="FFFFFF"/>
                </a:solidFill>
                <a:effectLst/>
                <a:latin typeface="Arial" panose="020B0604020202020204" pitchFamily="34" charset="0"/>
              </a:rPr>
              <a:t>Team </a:t>
            </a:r>
            <a:r>
              <a:rPr lang="en-US" sz="3200" dirty="0">
                <a:solidFill>
                  <a:srgbClr val="FFFFFF"/>
                </a:solidFill>
                <a:effectLst/>
                <a:latin typeface="Arial" panose="020B0604020202020204" pitchFamily="34" charset="0"/>
              </a:rPr>
              <a:t>–</a:t>
            </a:r>
            <a:r>
              <a:rPr lang="en-US" sz="3200" dirty="0" err="1">
                <a:solidFill>
                  <a:srgbClr val="FFFFFF"/>
                </a:solidFill>
                <a:effectLst/>
                <a:latin typeface="Arial" panose="020B0604020202020204" pitchFamily="34" charset="0"/>
              </a:rPr>
              <a:t>SpectraForge</a:t>
            </a:r>
            <a:r>
              <a:rPr lang="en-US" sz="3200" dirty="0">
                <a:solidFill>
                  <a:srgbClr val="FFFFFF"/>
                </a:solidFill>
                <a:effectLst/>
                <a:latin typeface="Arial" panose="020B0604020202020204" pitchFamily="34" charset="0"/>
              </a:rPr>
              <a:t> | </a:t>
            </a:r>
            <a:r>
              <a:rPr lang="en-US" sz="3200" b="0" i="0" dirty="0" err="1">
                <a:solidFill>
                  <a:srgbClr val="FFFFFF"/>
                </a:solidFill>
                <a:effectLst/>
                <a:latin typeface="Arial" panose="020B0604020202020204" pitchFamily="34" charset="0"/>
              </a:rPr>
              <a:t>Sravanthi</a:t>
            </a:r>
            <a:r>
              <a:rPr lang="en-US" sz="3200" b="0" i="0" dirty="0">
                <a:solidFill>
                  <a:srgbClr val="FFFFFF"/>
                </a:solidFill>
                <a:effectLst/>
                <a:latin typeface="Arial" panose="020B0604020202020204" pitchFamily="34" charset="0"/>
              </a:rPr>
              <a:t> </a:t>
            </a:r>
            <a:r>
              <a:rPr lang="en-US" sz="3200" b="0" i="0" dirty="0" err="1">
                <a:solidFill>
                  <a:srgbClr val="FFFFFF"/>
                </a:solidFill>
                <a:effectLst/>
                <a:latin typeface="Arial" panose="020B0604020202020204" pitchFamily="34" charset="0"/>
              </a:rPr>
              <a:t>Polneni</a:t>
            </a:r>
            <a:r>
              <a:rPr lang="en-US" sz="3200" b="0" i="0" dirty="0">
                <a:solidFill>
                  <a:srgbClr val="FFFFFF"/>
                </a:solidFill>
                <a:effectLst/>
                <a:latin typeface="Arial" panose="020B0604020202020204" pitchFamily="34" charset="0"/>
              </a:rPr>
              <a:t> </a:t>
            </a:r>
            <a:r>
              <a:rPr lang="en-US" sz="3200" dirty="0">
                <a:solidFill>
                  <a:srgbClr val="FFFFFF"/>
                </a:solidFill>
                <a:effectLst/>
                <a:latin typeface="Arial" panose="020B0604020202020204" pitchFamily="34" charset="0"/>
              </a:rPr>
              <a:t>| </a:t>
            </a:r>
            <a:r>
              <a:rPr lang="en-US" sz="3200" b="0" i="0" dirty="0">
                <a:solidFill>
                  <a:srgbClr val="FFFFFF"/>
                </a:solidFill>
                <a:effectLst/>
                <a:latin typeface="Arial" panose="020B0604020202020204" pitchFamily="34" charset="0"/>
              </a:rPr>
              <a:t>Abhinaya </a:t>
            </a:r>
            <a:r>
              <a:rPr lang="en-US" sz="3200" b="0" i="0" dirty="0" err="1">
                <a:solidFill>
                  <a:srgbClr val="FFFFFF"/>
                </a:solidFill>
                <a:effectLst/>
                <a:latin typeface="Arial" panose="020B0604020202020204" pitchFamily="34" charset="0"/>
              </a:rPr>
              <a:t>Ragipani</a:t>
            </a:r>
            <a:r>
              <a:rPr lang="en-US" sz="3200" b="0" i="0" dirty="0">
                <a:solidFill>
                  <a:srgbClr val="FFFFFF"/>
                </a:solidFill>
                <a:effectLst/>
                <a:latin typeface="Arial" panose="020B0604020202020204" pitchFamily="34" charset="0"/>
              </a:rPr>
              <a:t> </a:t>
            </a:r>
            <a:r>
              <a:rPr lang="en-US" sz="3200" dirty="0">
                <a:solidFill>
                  <a:srgbClr val="FFFFFF"/>
                </a:solidFill>
                <a:effectLst/>
                <a:latin typeface="Arial" panose="020B0604020202020204" pitchFamily="34" charset="0"/>
              </a:rPr>
              <a:t>|</a:t>
            </a:r>
            <a:r>
              <a:rPr lang="en-US" sz="3200" b="0" i="0" dirty="0">
                <a:solidFill>
                  <a:srgbClr val="FFFFFF"/>
                </a:solidFill>
                <a:effectLst/>
                <a:latin typeface="Arial" panose="020B0604020202020204" pitchFamily="34" charset="0"/>
              </a:rPr>
              <a:t> Atharva Ganesh Joshi </a:t>
            </a:r>
            <a:r>
              <a:rPr lang="en-US" sz="3200" dirty="0">
                <a:solidFill>
                  <a:srgbClr val="FFFFFF"/>
                </a:solidFill>
                <a:effectLst/>
                <a:latin typeface="Arial" panose="020B0604020202020204" pitchFamily="34" charset="0"/>
              </a:rPr>
              <a:t>|</a:t>
            </a:r>
            <a:r>
              <a:rPr lang="en-US" sz="3200" b="0" i="0" dirty="0">
                <a:solidFill>
                  <a:srgbClr val="FFFFFF"/>
                </a:solidFill>
                <a:effectLst/>
                <a:latin typeface="Arial" panose="020B0604020202020204" pitchFamily="34" charset="0"/>
              </a:rPr>
              <a:t> Vardhan </a:t>
            </a:r>
            <a:r>
              <a:rPr lang="en-US" sz="3200" dirty="0">
                <a:solidFill>
                  <a:srgbClr val="FFFFFF"/>
                </a:solidFill>
                <a:latin typeface="Arial" panose="020B0604020202020204" pitchFamily="34" charset="0"/>
              </a:rPr>
              <a:t>Vi</a:t>
            </a:r>
            <a:r>
              <a:rPr lang="en-US" sz="3200" b="0" i="0" dirty="0">
                <a:solidFill>
                  <a:srgbClr val="FFFFFF"/>
                </a:solidFill>
                <a:effectLst/>
                <a:latin typeface="Arial" panose="020B0604020202020204" pitchFamily="34" charset="0"/>
              </a:rPr>
              <a:t>vek </a:t>
            </a:r>
            <a:r>
              <a:rPr lang="en-US" sz="3200" b="0" i="0" dirty="0" err="1">
                <a:solidFill>
                  <a:srgbClr val="FFFFFF"/>
                </a:solidFill>
                <a:effectLst/>
                <a:latin typeface="Arial" panose="020B0604020202020204" pitchFamily="34" charset="0"/>
              </a:rPr>
              <a:t>Burande</a:t>
            </a:r>
            <a:endParaRPr lang="en-US" sz="3200" b="0" i="0" dirty="0">
              <a:solidFill>
                <a:srgbClr val="FFFFFF"/>
              </a:solidFill>
              <a:effectLst/>
              <a:latin typeface="Arial" panose="020B0604020202020204" pitchFamily="34" charset="0"/>
            </a:endParaRPr>
          </a:p>
          <a:p>
            <a:pPr>
              <a:defRPr/>
            </a:pPr>
            <a:r>
              <a:rPr lang="en-US" sz="3200" dirty="0">
                <a:solidFill>
                  <a:srgbClr val="FFFFFF"/>
                </a:solidFill>
                <a:effectLst/>
                <a:latin typeface="Arial" panose="020B0604020202020204" pitchFamily="34" charset="0"/>
              </a:rPr>
              <a:t>Professors – Sam Marrazzo | Adithya Lakshmi Narayanan</a:t>
            </a:r>
            <a:endParaRPr lang="en-US" sz="3200" b="0" i="0" dirty="0">
              <a:solidFill>
                <a:srgbClr val="FFFFFF"/>
              </a:solidFill>
              <a:effectLst/>
              <a:latin typeface="Arial" panose="020B0604020202020204" pitchFamily="34" charset="0"/>
            </a:endParaRPr>
          </a:p>
          <a:p>
            <a:pPr>
              <a:defRPr/>
            </a:pPr>
            <a:endParaRPr lang="en-US" altLang="en-US" sz="3200" dirty="0">
              <a:solidFill>
                <a:srgbClr val="FFFFFF"/>
              </a:solidFill>
              <a:latin typeface="+mn-lt"/>
              <a:ea typeface="Arial" charset="0"/>
            </a:endParaRPr>
          </a:p>
        </p:txBody>
      </p:sp>
      <p:sp>
        <p:nvSpPr>
          <p:cNvPr id="11" name="Introduction Textbox">
            <a:extLst>
              <a:ext uri="{FF2B5EF4-FFF2-40B4-BE49-F238E27FC236}">
                <a16:creationId xmlns:a16="http://schemas.microsoft.com/office/drawing/2014/main" id="{6CC485F0-7442-924B-A2B4-16DCD837442F}"/>
              </a:ext>
            </a:extLst>
          </p:cNvPr>
          <p:cNvSpPr txBox="1">
            <a:spLocks noChangeArrowheads="1"/>
          </p:cNvSpPr>
          <p:nvPr/>
        </p:nvSpPr>
        <p:spPr bwMode="auto">
          <a:xfrm>
            <a:off x="956439" y="6408573"/>
            <a:ext cx="9231406" cy="6655668"/>
          </a:xfrm>
          <a:prstGeom prst="rect">
            <a:avLst/>
          </a:prstGeom>
          <a:no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nSpc>
                <a:spcPts val="4039"/>
              </a:lnSpc>
              <a:spcAft>
                <a:spcPts val="1054"/>
              </a:spcAft>
            </a:pPr>
            <a:r>
              <a:rPr lang="en-US" sz="4400" b="1" dirty="0">
                <a:solidFill>
                  <a:srgbClr val="005BBB"/>
                </a:solidFill>
                <a:latin typeface="+mj-lt"/>
              </a:rPr>
              <a:t>Problem Statement</a:t>
            </a:r>
          </a:p>
          <a:p>
            <a:pPr algn="just"/>
            <a:r>
              <a:rPr lang="en-US" sz="3200" dirty="0">
                <a:latin typeface="+mn-lt"/>
              </a:rPr>
              <a:t>Rotating machinery in industries operates continuously, and even small faults like imbalance, misalignment, or bearing wear can quickly escalate into major failures. These issues lead to costly downtime, unreliable equipment performance, and safety risks. Traditional scheduled maintenance often misses early warning signs. Our project aims to detect these faults early by analyzing vibration patterns from a controlled rotor-kit system, enabling predictive maintenance that prevents mechanical damage and avoids production interruptions.</a:t>
            </a:r>
          </a:p>
        </p:txBody>
      </p:sp>
      <p:cxnSp>
        <p:nvCxnSpPr>
          <p:cNvPr id="12" name="Horizontal Section Divider" descr="Horizontal Divider">
            <a:extLst>
              <a:ext uri="{FF2B5EF4-FFF2-40B4-BE49-F238E27FC236}">
                <a16:creationId xmlns:a16="http://schemas.microsoft.com/office/drawing/2014/main" id="{FA9CD980-CAA8-B247-B623-40A39BE5BEF8}"/>
              </a:ext>
            </a:extLst>
          </p:cNvPr>
          <p:cNvCxnSpPr>
            <a:cxnSpLocks/>
          </p:cNvCxnSpPr>
          <p:nvPr/>
        </p:nvCxnSpPr>
        <p:spPr bwMode="auto">
          <a:xfrm>
            <a:off x="839956" y="13345178"/>
            <a:ext cx="9144000" cy="0"/>
          </a:xfrm>
          <a:prstGeom prst="line">
            <a:avLst/>
          </a:prstGeom>
          <a:noFill/>
          <a:ln w="25400" cap="flat" cmpd="sng" algn="ctr">
            <a:solidFill>
              <a:schemeClr val="tx1"/>
            </a:solidFill>
            <a:prstDash val="dash"/>
            <a:round/>
            <a:headEnd type="none" w="med" len="med"/>
            <a:tailEnd type="none" w="med" len="med"/>
          </a:ln>
          <a:effectLst/>
        </p:spPr>
      </p:cxnSp>
      <p:sp>
        <p:nvSpPr>
          <p:cNvPr id="13" name="Methods Textbox">
            <a:extLst>
              <a:ext uri="{FF2B5EF4-FFF2-40B4-BE49-F238E27FC236}">
                <a16:creationId xmlns:a16="http://schemas.microsoft.com/office/drawing/2014/main" id="{5FBBC0B6-D787-D945-A995-B5D5A9D0A98B}"/>
              </a:ext>
            </a:extLst>
          </p:cNvPr>
          <p:cNvSpPr txBox="1"/>
          <p:nvPr/>
        </p:nvSpPr>
        <p:spPr>
          <a:xfrm>
            <a:off x="944782" y="13753847"/>
            <a:ext cx="8541969" cy="605487"/>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Equipment Overview</a:t>
            </a:r>
          </a:p>
        </p:txBody>
      </p:sp>
      <p:cxnSp>
        <p:nvCxnSpPr>
          <p:cNvPr id="159" name="Horizontal Section Divider" descr="Horizontal Divider">
            <a:extLst>
              <a:ext uri="{FF2B5EF4-FFF2-40B4-BE49-F238E27FC236}">
                <a16:creationId xmlns:a16="http://schemas.microsoft.com/office/drawing/2014/main" id="{389BB176-3399-FE49-A4FB-A181BD6533DC}"/>
              </a:ext>
            </a:extLst>
          </p:cNvPr>
          <p:cNvCxnSpPr>
            <a:cxnSpLocks/>
          </p:cNvCxnSpPr>
          <p:nvPr/>
        </p:nvCxnSpPr>
        <p:spPr bwMode="auto">
          <a:xfrm>
            <a:off x="944782" y="20858764"/>
            <a:ext cx="9144000" cy="0"/>
          </a:xfrm>
          <a:prstGeom prst="line">
            <a:avLst/>
          </a:prstGeom>
          <a:noFill/>
          <a:ln w="25400" cap="flat" cmpd="sng" algn="ctr">
            <a:solidFill>
              <a:schemeClr val="tx1"/>
            </a:solidFill>
            <a:prstDash val="dash"/>
            <a:round/>
            <a:headEnd type="none" w="med" len="med"/>
            <a:tailEnd type="none" w="med" len="med"/>
          </a:ln>
          <a:effectLst/>
        </p:spPr>
      </p:cxnSp>
      <p:sp>
        <p:nvSpPr>
          <p:cNvPr id="15" name="Data Analysis Textbox">
            <a:extLst>
              <a:ext uri="{FF2B5EF4-FFF2-40B4-BE49-F238E27FC236}">
                <a16:creationId xmlns:a16="http://schemas.microsoft.com/office/drawing/2014/main" id="{D2D38290-E5F3-D246-A2F5-6C432990F86D}"/>
              </a:ext>
            </a:extLst>
          </p:cNvPr>
          <p:cNvSpPr txBox="1"/>
          <p:nvPr/>
        </p:nvSpPr>
        <p:spPr>
          <a:xfrm>
            <a:off x="11491793" y="6296117"/>
            <a:ext cx="21145500" cy="605422"/>
          </a:xfrm>
          <a:prstGeom prst="rect">
            <a:avLst/>
          </a:prstGeom>
          <a:noFill/>
          <a:effectLst/>
        </p:spPr>
        <p:txBody>
          <a:bodyPr wrap="square">
            <a:spAutoFit/>
          </a:bodyPr>
          <a:lstStyle/>
          <a:p>
            <a:pPr>
              <a:lnSpc>
                <a:spcPts val="4039"/>
              </a:lnSpc>
              <a:spcAft>
                <a:spcPts val="1054"/>
              </a:spcAft>
              <a:defRPr/>
            </a:pPr>
            <a:r>
              <a:rPr lang="en-US" sz="4400" b="1" dirty="0">
                <a:solidFill>
                  <a:srgbClr val="005BBB"/>
                </a:solidFill>
                <a:latin typeface="+mj-lt"/>
              </a:rPr>
              <a:t>Frequency Analysis of Fault Conditions Using FFT </a:t>
            </a:r>
          </a:p>
        </p:txBody>
      </p:sp>
      <p:cxnSp>
        <p:nvCxnSpPr>
          <p:cNvPr id="20" name="Horizontal Section Divider" descr="Horizontal Divider">
            <a:extLst>
              <a:ext uri="{FF2B5EF4-FFF2-40B4-BE49-F238E27FC236}">
                <a16:creationId xmlns:a16="http://schemas.microsoft.com/office/drawing/2014/main" id="{AE917C2D-15AC-F845-B65F-CC75955CE3F5}"/>
              </a:ext>
            </a:extLst>
          </p:cNvPr>
          <p:cNvCxnSpPr>
            <a:cxnSpLocks/>
          </p:cNvCxnSpPr>
          <p:nvPr/>
        </p:nvCxnSpPr>
        <p:spPr bwMode="auto">
          <a:xfrm flipV="1">
            <a:off x="11318429" y="15265801"/>
            <a:ext cx="11363436" cy="49690"/>
          </a:xfrm>
          <a:prstGeom prst="line">
            <a:avLst/>
          </a:prstGeom>
          <a:noFill/>
          <a:ln w="25400" cap="flat" cmpd="sng" algn="ctr">
            <a:solidFill>
              <a:schemeClr val="tx1"/>
            </a:solidFill>
            <a:prstDash val="dash"/>
            <a:round/>
            <a:headEnd type="none" w="med" len="med"/>
            <a:tailEnd type="none" w="med" len="med"/>
          </a:ln>
          <a:effectLst/>
        </p:spPr>
      </p:cxnSp>
      <p:cxnSp>
        <p:nvCxnSpPr>
          <p:cNvPr id="26" name="Horizontal Section Divider" descr="Horizontal Divider">
            <a:extLst>
              <a:ext uri="{FF2B5EF4-FFF2-40B4-BE49-F238E27FC236}">
                <a16:creationId xmlns:a16="http://schemas.microsoft.com/office/drawing/2014/main" id="{03EBD820-D067-C342-8194-2D4A88DE18AF}"/>
              </a:ext>
            </a:extLst>
          </p:cNvPr>
          <p:cNvCxnSpPr>
            <a:cxnSpLocks/>
          </p:cNvCxnSpPr>
          <p:nvPr/>
        </p:nvCxnSpPr>
        <p:spPr bwMode="auto">
          <a:xfrm>
            <a:off x="11318428" y="26954311"/>
            <a:ext cx="9144000" cy="0"/>
          </a:xfrm>
          <a:prstGeom prst="line">
            <a:avLst/>
          </a:prstGeom>
          <a:noFill/>
          <a:ln w="25400" cap="flat" cmpd="sng" algn="ctr">
            <a:solidFill>
              <a:schemeClr val="tx1"/>
            </a:solidFill>
            <a:prstDash val="dash"/>
            <a:round/>
            <a:headEnd type="none" w="med" len="med"/>
            <a:tailEnd type="none" w="med" len="med"/>
          </a:ln>
          <a:effectLst/>
        </p:spPr>
      </p:cxnSp>
      <p:cxnSp>
        <p:nvCxnSpPr>
          <p:cNvPr id="31" name="Horizontal Section Divider" descr="Horizontal Divider">
            <a:extLst>
              <a:ext uri="{FF2B5EF4-FFF2-40B4-BE49-F238E27FC236}">
                <a16:creationId xmlns:a16="http://schemas.microsoft.com/office/drawing/2014/main" id="{1C281BA3-3FCE-C942-8997-82FE52D1E5B3}"/>
              </a:ext>
            </a:extLst>
          </p:cNvPr>
          <p:cNvCxnSpPr>
            <a:cxnSpLocks/>
          </p:cNvCxnSpPr>
          <p:nvPr/>
        </p:nvCxnSpPr>
        <p:spPr bwMode="auto">
          <a:xfrm>
            <a:off x="22681865" y="15265801"/>
            <a:ext cx="9144000" cy="0"/>
          </a:xfrm>
          <a:prstGeom prst="line">
            <a:avLst/>
          </a:prstGeom>
          <a:noFill/>
          <a:ln w="25400" cap="flat" cmpd="sng" algn="ctr">
            <a:solidFill>
              <a:schemeClr val="tx1"/>
            </a:solidFill>
            <a:prstDash val="dash"/>
            <a:round/>
            <a:headEnd type="none" w="med" len="med"/>
            <a:tailEnd type="none" w="med" len="med"/>
          </a:ln>
          <a:effectLst/>
        </p:spPr>
      </p:cxnSp>
      <p:cxnSp>
        <p:nvCxnSpPr>
          <p:cNvPr id="78" name="Horizontal Section Divider" descr="Horizontal Divider">
            <a:extLst>
              <a:ext uri="{FF2B5EF4-FFF2-40B4-BE49-F238E27FC236}">
                <a16:creationId xmlns:a16="http://schemas.microsoft.com/office/drawing/2014/main" id="{38D91B9C-21D9-FE49-A0AE-4490F716906C}"/>
              </a:ext>
            </a:extLst>
          </p:cNvPr>
          <p:cNvCxnSpPr>
            <a:cxnSpLocks/>
          </p:cNvCxnSpPr>
          <p:nvPr/>
        </p:nvCxnSpPr>
        <p:spPr bwMode="auto">
          <a:xfrm>
            <a:off x="18738289" y="26954311"/>
            <a:ext cx="9144000" cy="0"/>
          </a:xfrm>
          <a:prstGeom prst="line">
            <a:avLst/>
          </a:prstGeom>
          <a:noFill/>
          <a:ln w="25400" cap="flat" cmpd="sng" algn="ctr">
            <a:solidFill>
              <a:schemeClr val="tx1"/>
            </a:solidFill>
            <a:prstDash val="dash"/>
            <a:round/>
            <a:headEnd type="none" w="med" len="med"/>
            <a:tailEnd type="none" w="med" len="med"/>
          </a:ln>
          <a:effectLst/>
        </p:spPr>
      </p:cxnSp>
      <p:sp>
        <p:nvSpPr>
          <p:cNvPr id="161" name="Contact information">
            <a:extLst>
              <a:ext uri="{FF2B5EF4-FFF2-40B4-BE49-F238E27FC236}">
                <a16:creationId xmlns:a16="http://schemas.microsoft.com/office/drawing/2014/main" id="{46B75218-4A30-B649-8AF6-1D57473CD05A}"/>
              </a:ext>
            </a:extLst>
          </p:cNvPr>
          <p:cNvSpPr/>
          <p:nvPr/>
        </p:nvSpPr>
        <p:spPr>
          <a:xfrm>
            <a:off x="22342899" y="41826295"/>
            <a:ext cx="10575501" cy="1496100"/>
          </a:xfrm>
          <a:prstGeom prst="rect">
            <a:avLst/>
          </a:prstGeom>
        </p:spPr>
        <p:txBody>
          <a:bodyPr wrap="square">
            <a:noAutofit/>
          </a:bodyPr>
          <a:lstStyle/>
          <a:p>
            <a:pPr>
              <a:spcAft>
                <a:spcPts val="400"/>
              </a:spcAft>
              <a:defRPr/>
            </a:pPr>
            <a:r>
              <a:rPr lang="en-US" altLang="en-US" sz="2800" dirty="0">
                <a:solidFill>
                  <a:schemeClr val="bg1"/>
                </a:solidFill>
                <a:ea typeface="Arial" charset="0"/>
              </a:rPr>
              <a:t>Institute for Artificial Intelligence and Data Science</a:t>
            </a:r>
            <a:br>
              <a:rPr lang="en-US" altLang="en-US" sz="2800" dirty="0">
                <a:solidFill>
                  <a:schemeClr val="bg1"/>
                </a:solidFill>
                <a:ea typeface="Arial" charset="0"/>
              </a:rPr>
            </a:br>
            <a:r>
              <a:rPr lang="en-US" altLang="en-US" sz="2800" dirty="0">
                <a:solidFill>
                  <a:schemeClr val="bg1"/>
                </a:solidFill>
                <a:ea typeface="Arial" charset="0"/>
              </a:rPr>
              <a:t>School of Engineering and Applied Science</a:t>
            </a:r>
          </a:p>
          <a:p>
            <a:pPr>
              <a:spcAft>
                <a:spcPts val="400"/>
              </a:spcAft>
              <a:defRPr/>
            </a:pPr>
            <a:r>
              <a:rPr lang="en-US" sz="2800" b="1" dirty="0">
                <a:solidFill>
                  <a:schemeClr val="bg1"/>
                </a:solidFill>
              </a:rPr>
              <a:t>https://</a:t>
            </a:r>
            <a:r>
              <a:rPr lang="en-US" sz="2800" b="1" dirty="0" err="1">
                <a:solidFill>
                  <a:schemeClr val="bg1"/>
                </a:solidFill>
              </a:rPr>
              <a:t>www.buffalo.edu</a:t>
            </a:r>
            <a:r>
              <a:rPr lang="en-US" sz="2800" b="1" dirty="0">
                <a:solidFill>
                  <a:schemeClr val="bg1"/>
                </a:solidFill>
              </a:rPr>
              <a:t>/ai-data-</a:t>
            </a:r>
            <a:r>
              <a:rPr lang="en-US" sz="2800" b="1" dirty="0" err="1">
                <a:solidFill>
                  <a:schemeClr val="bg1"/>
                </a:solidFill>
              </a:rPr>
              <a:t>science.html</a:t>
            </a:r>
            <a:endParaRPr lang="en-US" sz="2800" b="1" dirty="0">
              <a:solidFill>
                <a:schemeClr val="bg1"/>
              </a:solidFill>
            </a:endParaRPr>
          </a:p>
          <a:p>
            <a:pPr>
              <a:spcAft>
                <a:spcPts val="80"/>
              </a:spcAft>
              <a:defRPr/>
            </a:pPr>
            <a:endParaRPr lang="en-US" altLang="en-US" sz="2800" dirty="0">
              <a:solidFill>
                <a:schemeClr val="bg1"/>
              </a:solidFill>
              <a:ea typeface="Arial" charset="0"/>
            </a:endParaRPr>
          </a:p>
        </p:txBody>
      </p:sp>
      <p:pic>
        <p:nvPicPr>
          <p:cNvPr id="9" name="Picture 8" descr="A metal and silver piece of equipment&#10;&#10;Description automatically generated with medium confidence">
            <a:extLst>
              <a:ext uri="{FF2B5EF4-FFF2-40B4-BE49-F238E27FC236}">
                <a16:creationId xmlns:a16="http://schemas.microsoft.com/office/drawing/2014/main" id="{669B19D4-56F5-B69A-A3A4-BE1E39F74C70}"/>
              </a:ext>
            </a:extLst>
          </p:cNvPr>
          <p:cNvPicPr>
            <a:picLocks noChangeAspect="1"/>
          </p:cNvPicPr>
          <p:nvPr/>
        </p:nvPicPr>
        <p:blipFill>
          <a:blip r:embed="rId3"/>
          <a:stretch>
            <a:fillRect/>
          </a:stretch>
        </p:blipFill>
        <p:spPr>
          <a:xfrm>
            <a:off x="263611" y="14221506"/>
            <a:ext cx="10799904" cy="4588617"/>
          </a:xfrm>
          <a:prstGeom prst="rect">
            <a:avLst/>
          </a:prstGeom>
        </p:spPr>
      </p:pic>
      <p:sp>
        <p:nvSpPr>
          <p:cNvPr id="10" name="Methods Textbox">
            <a:extLst>
              <a:ext uri="{FF2B5EF4-FFF2-40B4-BE49-F238E27FC236}">
                <a16:creationId xmlns:a16="http://schemas.microsoft.com/office/drawing/2014/main" id="{99F69929-87F4-4E44-670C-AB086C8810C7}"/>
              </a:ext>
            </a:extLst>
          </p:cNvPr>
          <p:cNvSpPr txBox="1"/>
          <p:nvPr/>
        </p:nvSpPr>
        <p:spPr>
          <a:xfrm>
            <a:off x="956439" y="21158152"/>
            <a:ext cx="10155452" cy="5670783"/>
          </a:xfrm>
          <a:prstGeom prst="rect">
            <a:avLst/>
          </a:prstGeom>
          <a:noFill/>
          <a:effectLst/>
        </p:spPr>
        <p:txBody>
          <a:bodyPr wrap="square">
            <a:spAutoFit/>
          </a:bodyPr>
          <a:lstStyle/>
          <a:p>
            <a:pPr marL="0" marR="0" lvl="0" indent="0" algn="l" defTabSz="3686861" rtl="0" eaLnBrk="1" fontAlgn="auto" latinLnBrk="0" hangingPunct="1">
              <a:lnSpc>
                <a:spcPts val="4039"/>
              </a:lnSpc>
              <a:spcBef>
                <a:spcPts val="0"/>
              </a:spcBef>
              <a:spcAft>
                <a:spcPts val="1054"/>
              </a:spcAft>
              <a:buClrTx/>
              <a:buSzTx/>
              <a:buFontTx/>
              <a:buNone/>
              <a:tabLst/>
              <a:defRPr/>
            </a:pPr>
            <a:r>
              <a:rPr lang="en-US" sz="4400" b="1" dirty="0">
                <a:solidFill>
                  <a:srgbClr val="005BBB"/>
                </a:solidFill>
                <a:latin typeface="Arial" panose="020B0604020202020204"/>
              </a:rPr>
              <a:t>D</a:t>
            </a:r>
            <a:r>
              <a:rPr kumimoji="0" lang="en-US" sz="4400" b="1" i="0" u="none" strike="noStrike" kern="1200" cap="none" spc="0" normalizeH="0" baseline="0" noProof="0" dirty="0" err="1">
                <a:ln>
                  <a:noFill/>
                </a:ln>
                <a:solidFill>
                  <a:srgbClr val="005BBB"/>
                </a:solidFill>
                <a:effectLst/>
                <a:uLnTx/>
                <a:uFillTx/>
                <a:latin typeface="Arial" panose="020B0604020202020204"/>
                <a:ea typeface="+mn-ea"/>
                <a:cs typeface="+mn-cs"/>
              </a:rPr>
              <a:t>ata</a:t>
            </a:r>
            <a:r>
              <a:rPr kumimoji="0" lang="en-US" sz="4400" b="1" i="0" u="none" strike="noStrike" kern="1200" cap="none" spc="0" normalizeH="0" baseline="0" noProof="0" dirty="0">
                <a:ln>
                  <a:noFill/>
                </a:ln>
                <a:solidFill>
                  <a:srgbClr val="005BBB"/>
                </a:solidFill>
                <a:effectLst/>
                <a:uLnTx/>
                <a:uFillTx/>
                <a:latin typeface="Arial" panose="020B0604020202020204"/>
                <a:ea typeface="+mn-ea"/>
                <a:cs typeface="+mn-cs"/>
              </a:rPr>
              <a:t> Collection Workflow</a:t>
            </a:r>
          </a:p>
          <a:p>
            <a:pPr>
              <a:buFont typeface="+mj-lt"/>
              <a:buAutoNum type="arabicPeriod"/>
            </a:pPr>
            <a:r>
              <a:rPr lang="en-US" sz="3200" dirty="0"/>
              <a:t>Set rotor kit to specific speed</a:t>
            </a:r>
          </a:p>
          <a:p>
            <a:pPr>
              <a:buFont typeface="+mj-lt"/>
              <a:buAutoNum type="arabicPeriod"/>
            </a:pPr>
            <a:r>
              <a:rPr lang="en-US" sz="3200" dirty="0"/>
              <a:t>Introduce a fault</a:t>
            </a:r>
          </a:p>
          <a:p>
            <a:pPr>
              <a:buFont typeface="+mj-lt"/>
              <a:buAutoNum type="arabicPeriod"/>
            </a:pPr>
            <a:r>
              <a:rPr lang="en-US" sz="3200" dirty="0"/>
              <a:t>Collect vibration signals</a:t>
            </a:r>
          </a:p>
          <a:p>
            <a:pPr>
              <a:buFont typeface="+mj-lt"/>
              <a:buAutoNum type="arabicPeriod"/>
            </a:pPr>
            <a:r>
              <a:rPr lang="en-US" sz="3200" dirty="0"/>
              <a:t>Export CSV files </a:t>
            </a:r>
          </a:p>
          <a:p>
            <a:pPr>
              <a:buFont typeface="+mj-lt"/>
              <a:buAutoNum type="arabicPeriod"/>
            </a:pPr>
            <a:r>
              <a:rPr lang="en-US" sz="3200" dirty="0"/>
              <a:t>Preprocess waveforms (filtering + normalization)</a:t>
            </a:r>
          </a:p>
          <a:p>
            <a:pPr>
              <a:buFont typeface="+mj-lt"/>
              <a:buAutoNum type="arabicPeriod"/>
            </a:pPr>
            <a:r>
              <a:rPr lang="en-US" sz="3200" dirty="0"/>
              <a:t>Build labeled dataset for ML training</a:t>
            </a:r>
          </a:p>
          <a:p>
            <a:endParaRPr lang="en-US" sz="3200" dirty="0"/>
          </a:p>
          <a:p>
            <a:endParaRPr lang="en-US" sz="3200" dirty="0"/>
          </a:p>
          <a:p>
            <a:endParaRPr lang="en-US" sz="3200" dirty="0"/>
          </a:p>
          <a:p>
            <a:endParaRPr lang="en-US" sz="3200" dirty="0"/>
          </a:p>
        </p:txBody>
      </p:sp>
      <p:sp>
        <p:nvSpPr>
          <p:cNvPr id="83" name="Methods Textbox">
            <a:extLst>
              <a:ext uri="{FF2B5EF4-FFF2-40B4-BE49-F238E27FC236}">
                <a16:creationId xmlns:a16="http://schemas.microsoft.com/office/drawing/2014/main" id="{1ECE92D4-1270-7395-C4E6-42B437E5A392}"/>
              </a:ext>
            </a:extLst>
          </p:cNvPr>
          <p:cNvSpPr txBox="1"/>
          <p:nvPr/>
        </p:nvSpPr>
        <p:spPr>
          <a:xfrm>
            <a:off x="944782" y="18087849"/>
            <a:ext cx="9935656" cy="2554545"/>
          </a:xfrm>
          <a:prstGeom prst="rect">
            <a:avLst/>
          </a:prstGeom>
          <a:noFill/>
          <a:effectLst/>
        </p:spPr>
        <p:txBody>
          <a:bodyPr wrap="square">
            <a:spAutoFit/>
          </a:bodyPr>
          <a:lstStyle/>
          <a:p>
            <a:r>
              <a:rPr lang="en-US" sz="3200" dirty="0"/>
              <a:t>A small-scale rotor kit was used to simulate real machinery behavior.</a:t>
            </a:r>
          </a:p>
          <a:p>
            <a:r>
              <a:rPr lang="en-US" sz="3200" dirty="0"/>
              <a:t>We introduced: </a:t>
            </a:r>
            <a:r>
              <a:rPr lang="en-US" sz="3200" b="1" dirty="0"/>
              <a:t>Imbalance:</a:t>
            </a:r>
            <a:r>
              <a:rPr lang="en-US" sz="3200" dirty="0"/>
              <a:t> added weights | </a:t>
            </a:r>
            <a:r>
              <a:rPr lang="en-US" sz="3200" b="1" dirty="0"/>
              <a:t>Misalignment:</a:t>
            </a:r>
            <a:r>
              <a:rPr lang="en-US" sz="3200" dirty="0"/>
              <a:t> bearing offset | </a:t>
            </a:r>
            <a:r>
              <a:rPr lang="en-US" sz="3200" b="1" dirty="0"/>
              <a:t>Bearing Fault:</a:t>
            </a:r>
            <a:r>
              <a:rPr lang="en-US" sz="3200" dirty="0"/>
              <a:t> damaged bearing installed | </a:t>
            </a:r>
            <a:r>
              <a:rPr lang="en-US" sz="3200" b="1" dirty="0"/>
              <a:t>Normal Condition</a:t>
            </a:r>
            <a:endParaRPr lang="en-US" sz="3200" dirty="0"/>
          </a:p>
        </p:txBody>
      </p:sp>
      <p:sp>
        <p:nvSpPr>
          <p:cNvPr id="101" name="References Textbox">
            <a:extLst>
              <a:ext uri="{FF2B5EF4-FFF2-40B4-BE49-F238E27FC236}">
                <a16:creationId xmlns:a16="http://schemas.microsoft.com/office/drawing/2014/main" id="{5B9BD7D7-DE91-81F1-FE4E-3F06C1415C03}"/>
              </a:ext>
            </a:extLst>
          </p:cNvPr>
          <p:cNvSpPr txBox="1"/>
          <p:nvPr/>
        </p:nvSpPr>
        <p:spPr>
          <a:xfrm>
            <a:off x="11318429" y="15631545"/>
            <a:ext cx="8724900" cy="538096"/>
          </a:xfrm>
          <a:prstGeom prst="rect">
            <a:avLst/>
          </a:prstGeom>
          <a:noFill/>
          <a:effectLst/>
        </p:spPr>
        <p:txBody>
          <a:bodyPr wrap="square">
            <a:spAutoFit/>
          </a:bodyPr>
          <a:lstStyle/>
          <a:p>
            <a:pPr>
              <a:lnSpc>
                <a:spcPts val="3336"/>
              </a:lnSpc>
              <a:spcAft>
                <a:spcPts val="1054"/>
              </a:spcAft>
              <a:buClr>
                <a:schemeClr val="tx2"/>
              </a:buClr>
              <a:defRPr/>
            </a:pPr>
            <a:r>
              <a:rPr lang="en-US" sz="4400" b="1" dirty="0">
                <a:solidFill>
                  <a:srgbClr val="005BBB"/>
                </a:solidFill>
                <a:latin typeface="+mj-lt"/>
                <a:ea typeface="Arial" charset="0"/>
                <a:cs typeface="Arial" charset="0"/>
              </a:rPr>
              <a:t>Our Approach </a:t>
            </a:r>
            <a:endParaRPr lang="en-US" sz="4400" dirty="0">
              <a:latin typeface="Arial" charset="0"/>
              <a:ea typeface="Arial" charset="0"/>
              <a:cs typeface="Arial" charset="0"/>
            </a:endParaRPr>
          </a:p>
        </p:txBody>
      </p:sp>
      <p:sp>
        <p:nvSpPr>
          <p:cNvPr id="105" name="References Textbox">
            <a:extLst>
              <a:ext uri="{FF2B5EF4-FFF2-40B4-BE49-F238E27FC236}">
                <a16:creationId xmlns:a16="http://schemas.microsoft.com/office/drawing/2014/main" id="{3A84D4F8-E8FC-7D02-F518-CDC183717A33}"/>
              </a:ext>
            </a:extLst>
          </p:cNvPr>
          <p:cNvSpPr txBox="1"/>
          <p:nvPr/>
        </p:nvSpPr>
        <p:spPr>
          <a:xfrm>
            <a:off x="11318429" y="31311206"/>
            <a:ext cx="8724900" cy="538096"/>
          </a:xfrm>
          <a:prstGeom prst="rect">
            <a:avLst/>
          </a:prstGeom>
          <a:noFill/>
          <a:effectLst/>
        </p:spPr>
        <p:txBody>
          <a:bodyPr wrap="square">
            <a:spAutoFit/>
          </a:bodyPr>
          <a:lstStyle/>
          <a:p>
            <a:pPr>
              <a:lnSpc>
                <a:spcPts val="3336"/>
              </a:lnSpc>
              <a:spcAft>
                <a:spcPts val="1054"/>
              </a:spcAft>
              <a:buClr>
                <a:schemeClr val="tx2"/>
              </a:buClr>
              <a:defRPr/>
            </a:pPr>
            <a:r>
              <a:rPr lang="en-US" sz="4400" b="1" dirty="0">
                <a:solidFill>
                  <a:srgbClr val="005BBB"/>
                </a:solidFill>
                <a:latin typeface="+mj-lt"/>
                <a:ea typeface="Arial" charset="0"/>
                <a:cs typeface="Arial" charset="0"/>
              </a:rPr>
              <a:t>Results</a:t>
            </a:r>
            <a:endParaRPr lang="en-US" sz="4400" dirty="0">
              <a:latin typeface="Arial" charset="0"/>
              <a:ea typeface="Arial" charset="0"/>
              <a:cs typeface="Arial" charset="0"/>
            </a:endParaRPr>
          </a:p>
        </p:txBody>
      </p:sp>
      <p:sp>
        <p:nvSpPr>
          <p:cNvPr id="22" name="References Textbox">
            <a:extLst>
              <a:ext uri="{FF2B5EF4-FFF2-40B4-BE49-F238E27FC236}">
                <a16:creationId xmlns:a16="http://schemas.microsoft.com/office/drawing/2014/main" id="{C7FB3A87-F295-AC94-9753-7B0F1234835D}"/>
              </a:ext>
            </a:extLst>
          </p:cNvPr>
          <p:cNvSpPr txBox="1"/>
          <p:nvPr/>
        </p:nvSpPr>
        <p:spPr>
          <a:xfrm>
            <a:off x="11318429" y="16141844"/>
            <a:ext cx="8724900" cy="515526"/>
          </a:xfrm>
          <a:prstGeom prst="rect">
            <a:avLst/>
          </a:prstGeom>
          <a:noFill/>
          <a:effectLst/>
        </p:spPr>
        <p:txBody>
          <a:bodyPr wrap="square">
            <a:spAutoFit/>
          </a:bodyPr>
          <a:lstStyle/>
          <a:p>
            <a:pPr>
              <a:lnSpc>
                <a:spcPts val="3336"/>
              </a:lnSpc>
              <a:spcAft>
                <a:spcPts val="1054"/>
              </a:spcAft>
              <a:buClr>
                <a:schemeClr val="tx2"/>
              </a:buClr>
              <a:defRPr/>
            </a:pPr>
            <a:r>
              <a:rPr lang="en-US" sz="3000" b="1" dirty="0">
                <a:latin typeface="+mj-lt"/>
                <a:ea typeface="Arial" charset="0"/>
                <a:cs typeface="Arial" charset="0"/>
              </a:rPr>
              <a:t>1. Data Pre-processing</a:t>
            </a:r>
            <a:endParaRPr lang="en-US" sz="3000" dirty="0">
              <a:latin typeface="Arial" charset="0"/>
              <a:ea typeface="Arial" charset="0"/>
              <a:cs typeface="Arial" charset="0"/>
            </a:endParaRPr>
          </a:p>
        </p:txBody>
      </p:sp>
      <p:pic>
        <p:nvPicPr>
          <p:cNvPr id="24" name="Picture 23">
            <a:extLst>
              <a:ext uri="{FF2B5EF4-FFF2-40B4-BE49-F238E27FC236}">
                <a16:creationId xmlns:a16="http://schemas.microsoft.com/office/drawing/2014/main" id="{A2B81639-AAE1-526F-A04A-821AA6120821}"/>
              </a:ext>
            </a:extLst>
          </p:cNvPr>
          <p:cNvPicPr>
            <a:picLocks noChangeAspect="1"/>
          </p:cNvPicPr>
          <p:nvPr/>
        </p:nvPicPr>
        <p:blipFill>
          <a:blip r:embed="rId4"/>
          <a:stretch>
            <a:fillRect/>
          </a:stretch>
        </p:blipFill>
        <p:spPr>
          <a:xfrm>
            <a:off x="11587934" y="16838264"/>
            <a:ext cx="17748989" cy="4655473"/>
          </a:xfrm>
          <a:prstGeom prst="rect">
            <a:avLst/>
          </a:prstGeom>
        </p:spPr>
      </p:pic>
      <p:sp>
        <p:nvSpPr>
          <p:cNvPr id="29" name="Methods Textbox">
            <a:extLst>
              <a:ext uri="{FF2B5EF4-FFF2-40B4-BE49-F238E27FC236}">
                <a16:creationId xmlns:a16="http://schemas.microsoft.com/office/drawing/2014/main" id="{0C23E355-144D-4ECA-1768-40175D889B24}"/>
              </a:ext>
            </a:extLst>
          </p:cNvPr>
          <p:cNvSpPr txBox="1"/>
          <p:nvPr/>
        </p:nvSpPr>
        <p:spPr>
          <a:xfrm>
            <a:off x="11690113" y="38327036"/>
            <a:ext cx="19321109" cy="2862322"/>
          </a:xfrm>
          <a:prstGeom prst="rect">
            <a:avLst/>
          </a:prstGeom>
          <a:noFill/>
          <a:effectLst/>
        </p:spPr>
        <p:txBody>
          <a:bodyPr wrap="square">
            <a:spAutoFit/>
          </a:bodyPr>
          <a:lstStyle/>
          <a:p>
            <a:pPr marL="571500" indent="-571500" algn="just">
              <a:buFont typeface="Arial" panose="020B0604020202020204" pitchFamily="34" charset="0"/>
              <a:buChar char="•"/>
            </a:pPr>
            <a:r>
              <a:rPr lang="en-US" sz="3600" dirty="0"/>
              <a:t>Achieved </a:t>
            </a:r>
            <a:r>
              <a:rPr lang="en-US" sz="3600" b="1" dirty="0"/>
              <a:t>99.98% accuracy</a:t>
            </a:r>
            <a:r>
              <a:rPr lang="en-US" sz="3600" dirty="0"/>
              <a:t> with near-perfect precision across all fault types, demonstrating the model’s ability to reliably distinguish each machinery condition through its unique vibration signature.</a:t>
            </a:r>
          </a:p>
          <a:p>
            <a:pPr marL="571500" indent="-571500" algn="just">
              <a:buFont typeface="Arial" panose="020B0604020202020204" pitchFamily="34" charset="0"/>
              <a:buChar char="•"/>
            </a:pPr>
            <a:r>
              <a:rPr lang="en-US" sz="3600" dirty="0"/>
              <a:t>Provides a highly dependable early-fault detection system that helps prevent downtime, optimizes maintenance, and enhances overall operational safety.</a:t>
            </a:r>
            <a:endParaRPr lang="en-US" sz="3000" b="1" dirty="0">
              <a:ea typeface="Arial" charset="0"/>
              <a:cs typeface="Arial" charset="0"/>
            </a:endParaRPr>
          </a:p>
        </p:txBody>
      </p:sp>
      <p:pic>
        <p:nvPicPr>
          <p:cNvPr id="7" name="Picture 6">
            <a:extLst>
              <a:ext uri="{FF2B5EF4-FFF2-40B4-BE49-F238E27FC236}">
                <a16:creationId xmlns:a16="http://schemas.microsoft.com/office/drawing/2014/main" id="{70B726B7-1F17-683F-DE53-656CB72EC7C2}"/>
              </a:ext>
            </a:extLst>
          </p:cNvPr>
          <p:cNvPicPr>
            <a:picLocks noChangeAspect="1"/>
          </p:cNvPicPr>
          <p:nvPr/>
        </p:nvPicPr>
        <p:blipFill>
          <a:blip r:embed="rId5"/>
          <a:srcRect l="1" t="12001" r="33034"/>
          <a:stretch/>
        </p:blipFill>
        <p:spPr>
          <a:xfrm>
            <a:off x="2995560" y="29247799"/>
            <a:ext cx="3591062" cy="2715155"/>
          </a:xfrm>
          <a:prstGeom prst="rect">
            <a:avLst/>
          </a:prstGeom>
        </p:spPr>
      </p:pic>
      <p:pic>
        <p:nvPicPr>
          <p:cNvPr id="14" name="Picture 13">
            <a:extLst>
              <a:ext uri="{FF2B5EF4-FFF2-40B4-BE49-F238E27FC236}">
                <a16:creationId xmlns:a16="http://schemas.microsoft.com/office/drawing/2014/main" id="{D1127DF6-F64B-7349-A819-CE83ED18A460}"/>
              </a:ext>
            </a:extLst>
          </p:cNvPr>
          <p:cNvPicPr>
            <a:picLocks noChangeAspect="1"/>
          </p:cNvPicPr>
          <p:nvPr/>
        </p:nvPicPr>
        <p:blipFill>
          <a:blip r:embed="rId6"/>
          <a:srcRect r="27118" b="7469"/>
          <a:stretch/>
        </p:blipFill>
        <p:spPr>
          <a:xfrm>
            <a:off x="3188710" y="33501833"/>
            <a:ext cx="3397912" cy="2640611"/>
          </a:xfrm>
          <a:prstGeom prst="rect">
            <a:avLst/>
          </a:prstGeom>
        </p:spPr>
      </p:pic>
      <p:pic>
        <p:nvPicPr>
          <p:cNvPr id="16" name="Picture 15">
            <a:extLst>
              <a:ext uri="{FF2B5EF4-FFF2-40B4-BE49-F238E27FC236}">
                <a16:creationId xmlns:a16="http://schemas.microsoft.com/office/drawing/2014/main" id="{7675CE6F-0993-3A3A-C081-94AD77867428}"/>
              </a:ext>
            </a:extLst>
          </p:cNvPr>
          <p:cNvPicPr>
            <a:picLocks noChangeAspect="1"/>
          </p:cNvPicPr>
          <p:nvPr/>
        </p:nvPicPr>
        <p:blipFill>
          <a:blip r:embed="rId7"/>
          <a:srcRect t="5389" r="8496" b="82206"/>
          <a:stretch/>
        </p:blipFill>
        <p:spPr>
          <a:xfrm>
            <a:off x="1898133" y="25559983"/>
            <a:ext cx="5649334" cy="2090207"/>
          </a:xfrm>
          <a:prstGeom prst="rect">
            <a:avLst/>
          </a:prstGeom>
        </p:spPr>
      </p:pic>
      <p:pic>
        <p:nvPicPr>
          <p:cNvPr id="17" name="Picture 16">
            <a:extLst>
              <a:ext uri="{FF2B5EF4-FFF2-40B4-BE49-F238E27FC236}">
                <a16:creationId xmlns:a16="http://schemas.microsoft.com/office/drawing/2014/main" id="{C83B2738-1A9E-587B-3D5E-617A85AEA144}"/>
              </a:ext>
            </a:extLst>
          </p:cNvPr>
          <p:cNvPicPr>
            <a:picLocks noChangeAspect="1"/>
          </p:cNvPicPr>
          <p:nvPr/>
        </p:nvPicPr>
        <p:blipFill>
          <a:blip r:embed="rId7"/>
          <a:srcRect l="18124" t="85564" r="18593"/>
          <a:stretch/>
        </p:blipFill>
        <p:spPr>
          <a:xfrm>
            <a:off x="3434098" y="38052272"/>
            <a:ext cx="3397912" cy="2346278"/>
          </a:xfrm>
          <a:prstGeom prst="rect">
            <a:avLst/>
          </a:prstGeom>
        </p:spPr>
      </p:pic>
      <p:sp>
        <p:nvSpPr>
          <p:cNvPr id="18" name="TextBox 17">
            <a:extLst>
              <a:ext uri="{FF2B5EF4-FFF2-40B4-BE49-F238E27FC236}">
                <a16:creationId xmlns:a16="http://schemas.microsoft.com/office/drawing/2014/main" id="{311DF9E6-D06B-BC35-F6F5-67AA16056610}"/>
              </a:ext>
            </a:extLst>
          </p:cNvPr>
          <p:cNvSpPr txBox="1"/>
          <p:nvPr/>
        </p:nvSpPr>
        <p:spPr>
          <a:xfrm>
            <a:off x="3555358" y="24929041"/>
            <a:ext cx="1856598" cy="630942"/>
          </a:xfrm>
          <a:prstGeom prst="rect">
            <a:avLst/>
          </a:prstGeom>
          <a:noFill/>
        </p:spPr>
        <p:txBody>
          <a:bodyPr wrap="none" rtlCol="0">
            <a:spAutoFit/>
          </a:bodyPr>
          <a:lstStyle/>
          <a:p>
            <a:r>
              <a:rPr lang="en-US" sz="3500" dirty="0"/>
              <a:t>Rotor kit</a:t>
            </a:r>
          </a:p>
        </p:txBody>
      </p:sp>
      <p:sp>
        <p:nvSpPr>
          <p:cNvPr id="19" name="TextBox 18">
            <a:extLst>
              <a:ext uri="{FF2B5EF4-FFF2-40B4-BE49-F238E27FC236}">
                <a16:creationId xmlns:a16="http://schemas.microsoft.com/office/drawing/2014/main" id="{F019469D-2D2E-CF49-F956-56B4960257CE}"/>
              </a:ext>
            </a:extLst>
          </p:cNvPr>
          <p:cNvSpPr txBox="1"/>
          <p:nvPr/>
        </p:nvSpPr>
        <p:spPr>
          <a:xfrm>
            <a:off x="2946500" y="28492700"/>
            <a:ext cx="3422668" cy="630942"/>
          </a:xfrm>
          <a:prstGeom prst="rect">
            <a:avLst/>
          </a:prstGeom>
          <a:noFill/>
        </p:spPr>
        <p:txBody>
          <a:bodyPr wrap="none" rtlCol="0">
            <a:spAutoFit/>
          </a:bodyPr>
          <a:lstStyle/>
          <a:p>
            <a:r>
              <a:rPr lang="en-US" sz="3500" dirty="0"/>
              <a:t>Vibration sensor</a:t>
            </a:r>
          </a:p>
        </p:txBody>
      </p:sp>
      <p:sp>
        <p:nvSpPr>
          <p:cNvPr id="23" name="TextBox 22">
            <a:extLst>
              <a:ext uri="{FF2B5EF4-FFF2-40B4-BE49-F238E27FC236}">
                <a16:creationId xmlns:a16="http://schemas.microsoft.com/office/drawing/2014/main" id="{D417EE8A-50EE-B1CB-67C7-B86F1B191E60}"/>
              </a:ext>
            </a:extLst>
          </p:cNvPr>
          <p:cNvSpPr txBox="1"/>
          <p:nvPr/>
        </p:nvSpPr>
        <p:spPr>
          <a:xfrm>
            <a:off x="3980969" y="32945320"/>
            <a:ext cx="1632178" cy="630942"/>
          </a:xfrm>
          <a:prstGeom prst="rect">
            <a:avLst/>
          </a:prstGeom>
          <a:noFill/>
        </p:spPr>
        <p:txBody>
          <a:bodyPr wrap="none" rtlCol="0">
            <a:spAutoFit/>
          </a:bodyPr>
          <a:lstStyle/>
          <a:p>
            <a:r>
              <a:rPr lang="en-US" sz="3500" dirty="0"/>
              <a:t>STM32</a:t>
            </a:r>
          </a:p>
        </p:txBody>
      </p:sp>
      <p:sp>
        <p:nvSpPr>
          <p:cNvPr id="27" name="TextBox 26">
            <a:extLst>
              <a:ext uri="{FF2B5EF4-FFF2-40B4-BE49-F238E27FC236}">
                <a16:creationId xmlns:a16="http://schemas.microsoft.com/office/drawing/2014/main" id="{832AC376-AB19-8C2E-4467-D630FB86A986}"/>
              </a:ext>
            </a:extLst>
          </p:cNvPr>
          <p:cNvSpPr txBox="1"/>
          <p:nvPr/>
        </p:nvSpPr>
        <p:spPr>
          <a:xfrm>
            <a:off x="4016730" y="37180288"/>
            <a:ext cx="2230098" cy="630942"/>
          </a:xfrm>
          <a:prstGeom prst="rect">
            <a:avLst/>
          </a:prstGeom>
          <a:noFill/>
        </p:spPr>
        <p:txBody>
          <a:bodyPr wrap="none" rtlCol="0">
            <a:spAutoFit/>
          </a:bodyPr>
          <a:lstStyle/>
          <a:p>
            <a:r>
              <a:rPr lang="en-US" sz="3500" dirty="0"/>
              <a:t>Data (csv)</a:t>
            </a:r>
          </a:p>
        </p:txBody>
      </p:sp>
      <p:cxnSp>
        <p:nvCxnSpPr>
          <p:cNvPr id="35" name="Straight Arrow Connector 34">
            <a:extLst>
              <a:ext uri="{FF2B5EF4-FFF2-40B4-BE49-F238E27FC236}">
                <a16:creationId xmlns:a16="http://schemas.microsoft.com/office/drawing/2014/main" id="{2B94F698-38DA-90BB-6423-C0C99E2BC966}"/>
              </a:ext>
            </a:extLst>
          </p:cNvPr>
          <p:cNvCxnSpPr>
            <a:stCxn id="16" idx="2"/>
          </p:cNvCxnSpPr>
          <p:nvPr/>
        </p:nvCxnSpPr>
        <p:spPr>
          <a:xfrm>
            <a:off x="4722800" y="27650190"/>
            <a:ext cx="0" cy="842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18A9D0E-8192-F556-CF46-29BF69475116}"/>
              </a:ext>
            </a:extLst>
          </p:cNvPr>
          <p:cNvCxnSpPr>
            <a:stCxn id="7" idx="2"/>
            <a:endCxn id="23" idx="0"/>
          </p:cNvCxnSpPr>
          <p:nvPr/>
        </p:nvCxnSpPr>
        <p:spPr>
          <a:xfrm>
            <a:off x="4791091" y="31962954"/>
            <a:ext cx="5967" cy="982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D10730A-A43D-378C-A680-7066C5736C2B}"/>
              </a:ext>
            </a:extLst>
          </p:cNvPr>
          <p:cNvCxnSpPr/>
          <p:nvPr/>
        </p:nvCxnSpPr>
        <p:spPr>
          <a:xfrm>
            <a:off x="4967055" y="36275918"/>
            <a:ext cx="0" cy="10487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B6E7DD20-A165-F874-A6AF-284E177A6D51}"/>
              </a:ext>
            </a:extLst>
          </p:cNvPr>
          <p:cNvSpPr txBox="1"/>
          <p:nvPr/>
        </p:nvSpPr>
        <p:spPr>
          <a:xfrm>
            <a:off x="11315229" y="21493737"/>
            <a:ext cx="7104253" cy="769441"/>
          </a:xfrm>
          <a:prstGeom prst="rect">
            <a:avLst/>
          </a:prstGeom>
          <a:noFill/>
        </p:spPr>
        <p:txBody>
          <a:bodyPr wrap="none" rtlCol="0">
            <a:spAutoFit/>
          </a:bodyPr>
          <a:lstStyle/>
          <a:p>
            <a:r>
              <a:rPr lang="en-US" sz="4400" b="1" dirty="0">
                <a:solidFill>
                  <a:srgbClr val="005BBB"/>
                </a:solidFill>
                <a:latin typeface="+mj-lt"/>
                <a:ea typeface="Arial" charset="0"/>
                <a:cs typeface="Arial" charset="0"/>
              </a:rPr>
              <a:t>Our </a:t>
            </a:r>
            <a:r>
              <a:rPr lang="en-US" sz="4400" b="1" dirty="0" err="1">
                <a:solidFill>
                  <a:srgbClr val="005BBB"/>
                </a:solidFill>
                <a:latin typeface="+mj-lt"/>
                <a:ea typeface="Arial" charset="0"/>
                <a:cs typeface="Arial" charset="0"/>
              </a:rPr>
              <a:t>MiniRocket</a:t>
            </a:r>
            <a:r>
              <a:rPr lang="en-US" sz="4400" b="1" dirty="0">
                <a:solidFill>
                  <a:srgbClr val="005BBB"/>
                </a:solidFill>
                <a:latin typeface="+mj-lt"/>
                <a:ea typeface="Arial" charset="0"/>
                <a:cs typeface="Arial" charset="0"/>
              </a:rPr>
              <a:t> ML Model</a:t>
            </a:r>
            <a:endParaRPr lang="en-US" sz="4400" dirty="0">
              <a:latin typeface="Arial" charset="0"/>
              <a:ea typeface="Arial" charset="0"/>
              <a:cs typeface="Arial" charset="0"/>
            </a:endParaRPr>
          </a:p>
        </p:txBody>
      </p:sp>
      <p:pic>
        <p:nvPicPr>
          <p:cNvPr id="21" name="Picture 20">
            <a:extLst>
              <a:ext uri="{FF2B5EF4-FFF2-40B4-BE49-F238E27FC236}">
                <a16:creationId xmlns:a16="http://schemas.microsoft.com/office/drawing/2014/main" id="{828D75E7-94DF-44AF-4B6E-991662B62B16}"/>
              </a:ext>
            </a:extLst>
          </p:cNvPr>
          <p:cNvPicPr>
            <a:picLocks noChangeAspect="1"/>
          </p:cNvPicPr>
          <p:nvPr/>
        </p:nvPicPr>
        <p:blipFill>
          <a:blip r:embed="rId8"/>
          <a:stretch>
            <a:fillRect/>
          </a:stretch>
        </p:blipFill>
        <p:spPr>
          <a:xfrm>
            <a:off x="11318429" y="31652148"/>
            <a:ext cx="8800313" cy="6411496"/>
          </a:xfrm>
          <a:prstGeom prst="rect">
            <a:avLst/>
          </a:prstGeom>
        </p:spPr>
      </p:pic>
      <p:pic>
        <p:nvPicPr>
          <p:cNvPr id="25" name="Picture 24">
            <a:extLst>
              <a:ext uri="{FF2B5EF4-FFF2-40B4-BE49-F238E27FC236}">
                <a16:creationId xmlns:a16="http://schemas.microsoft.com/office/drawing/2014/main" id="{7CA30623-271E-D035-C39B-EE6E06BD8F5E}"/>
              </a:ext>
            </a:extLst>
          </p:cNvPr>
          <p:cNvPicPr>
            <a:picLocks noChangeAspect="1"/>
          </p:cNvPicPr>
          <p:nvPr/>
        </p:nvPicPr>
        <p:blipFill>
          <a:blip r:embed="rId9"/>
          <a:stretch>
            <a:fillRect/>
          </a:stretch>
        </p:blipFill>
        <p:spPr>
          <a:xfrm>
            <a:off x="21176555" y="31962955"/>
            <a:ext cx="8614503" cy="5949352"/>
          </a:xfrm>
          <a:prstGeom prst="rect">
            <a:avLst/>
          </a:prstGeom>
        </p:spPr>
      </p:pic>
      <p:pic>
        <p:nvPicPr>
          <p:cNvPr id="32" name="Picture 31">
            <a:extLst>
              <a:ext uri="{FF2B5EF4-FFF2-40B4-BE49-F238E27FC236}">
                <a16:creationId xmlns:a16="http://schemas.microsoft.com/office/drawing/2014/main" id="{6FF6C985-B6C3-82BE-E78D-031947227349}"/>
              </a:ext>
            </a:extLst>
          </p:cNvPr>
          <p:cNvPicPr>
            <a:picLocks noChangeAspect="1"/>
          </p:cNvPicPr>
          <p:nvPr/>
        </p:nvPicPr>
        <p:blipFill>
          <a:blip r:embed="rId10"/>
          <a:srcRect t="5210"/>
          <a:stretch/>
        </p:blipFill>
        <p:spPr>
          <a:xfrm>
            <a:off x="12176343" y="6986414"/>
            <a:ext cx="18834879" cy="7792421"/>
          </a:xfrm>
          <a:prstGeom prst="rect">
            <a:avLst/>
          </a:prstGeom>
        </p:spPr>
      </p:pic>
      <p:pic>
        <p:nvPicPr>
          <p:cNvPr id="4" name="Picture 3">
            <a:extLst>
              <a:ext uri="{FF2B5EF4-FFF2-40B4-BE49-F238E27FC236}">
                <a16:creationId xmlns:a16="http://schemas.microsoft.com/office/drawing/2014/main" id="{11279386-9686-447E-DD38-D26D06438A0E}"/>
              </a:ext>
            </a:extLst>
          </p:cNvPr>
          <p:cNvPicPr>
            <a:picLocks noChangeAspect="1"/>
          </p:cNvPicPr>
          <p:nvPr/>
        </p:nvPicPr>
        <p:blipFill>
          <a:blip r:embed="rId11"/>
          <a:stretch>
            <a:fillRect/>
          </a:stretch>
        </p:blipFill>
        <p:spPr>
          <a:xfrm>
            <a:off x="11318427" y="22208706"/>
            <a:ext cx="18764696" cy="4655473"/>
          </a:xfrm>
          <a:prstGeom prst="rect">
            <a:avLst/>
          </a:prstGeom>
        </p:spPr>
      </p:pic>
      <p:cxnSp>
        <p:nvCxnSpPr>
          <p:cNvPr id="3" name="Horizontal Section Divider" descr="Horizontal Divider">
            <a:extLst>
              <a:ext uri="{FF2B5EF4-FFF2-40B4-BE49-F238E27FC236}">
                <a16:creationId xmlns:a16="http://schemas.microsoft.com/office/drawing/2014/main" id="{6A1293A0-614F-F45B-4AA2-E383E6B73E01}"/>
              </a:ext>
            </a:extLst>
          </p:cNvPr>
          <p:cNvCxnSpPr>
            <a:cxnSpLocks/>
          </p:cNvCxnSpPr>
          <p:nvPr/>
        </p:nvCxnSpPr>
        <p:spPr bwMode="auto">
          <a:xfrm>
            <a:off x="11318428" y="30810601"/>
            <a:ext cx="9144000" cy="0"/>
          </a:xfrm>
          <a:prstGeom prst="line">
            <a:avLst/>
          </a:prstGeom>
          <a:noFill/>
          <a:ln w="25400" cap="flat" cmpd="sng" algn="ctr">
            <a:solidFill>
              <a:schemeClr val="tx1"/>
            </a:solidFill>
            <a:prstDash val="dash"/>
            <a:round/>
            <a:headEnd type="none" w="med" len="med"/>
            <a:tailEnd type="none" w="med" len="med"/>
          </a:ln>
          <a:effectLst/>
        </p:spPr>
      </p:cxnSp>
      <p:cxnSp>
        <p:nvCxnSpPr>
          <p:cNvPr id="5" name="Horizontal Section Divider" descr="Horizontal Divider">
            <a:extLst>
              <a:ext uri="{FF2B5EF4-FFF2-40B4-BE49-F238E27FC236}">
                <a16:creationId xmlns:a16="http://schemas.microsoft.com/office/drawing/2014/main" id="{7FAE9541-AC7A-2EC0-49F8-6B863B4547DD}"/>
              </a:ext>
            </a:extLst>
          </p:cNvPr>
          <p:cNvCxnSpPr>
            <a:cxnSpLocks/>
          </p:cNvCxnSpPr>
          <p:nvPr/>
        </p:nvCxnSpPr>
        <p:spPr bwMode="auto">
          <a:xfrm>
            <a:off x="22342899" y="30810601"/>
            <a:ext cx="9144000" cy="0"/>
          </a:xfrm>
          <a:prstGeom prst="line">
            <a:avLst/>
          </a:prstGeom>
          <a:noFill/>
          <a:ln w="25400" cap="flat" cmpd="sng" algn="ctr">
            <a:solidFill>
              <a:schemeClr val="tx1"/>
            </a:solidFill>
            <a:prstDash val="dash"/>
            <a:round/>
            <a:headEnd type="none" w="med" len="med"/>
            <a:tailEnd type="none" w="med" len="med"/>
          </a:ln>
          <a:effectLst/>
        </p:spPr>
      </p:cxnSp>
      <p:sp>
        <p:nvSpPr>
          <p:cNvPr id="28" name="TextBox 27">
            <a:extLst>
              <a:ext uri="{FF2B5EF4-FFF2-40B4-BE49-F238E27FC236}">
                <a16:creationId xmlns:a16="http://schemas.microsoft.com/office/drawing/2014/main" id="{4D706A3B-6CD3-BE68-4020-3EC958FBE7B1}"/>
              </a:ext>
            </a:extLst>
          </p:cNvPr>
          <p:cNvSpPr txBox="1"/>
          <p:nvPr/>
        </p:nvSpPr>
        <p:spPr>
          <a:xfrm>
            <a:off x="11318427" y="27239532"/>
            <a:ext cx="5140759" cy="1446550"/>
          </a:xfrm>
          <a:prstGeom prst="rect">
            <a:avLst/>
          </a:prstGeom>
          <a:noFill/>
        </p:spPr>
        <p:txBody>
          <a:bodyPr wrap="square">
            <a:spAutoFit/>
          </a:bodyPr>
          <a:lstStyle/>
          <a:p>
            <a:r>
              <a:rPr lang="en-US" sz="4400" b="1" dirty="0">
                <a:solidFill>
                  <a:srgbClr val="005BBB"/>
                </a:solidFill>
                <a:ea typeface="Arial" charset="0"/>
                <a:cs typeface="Arial" charset="0"/>
              </a:rPr>
              <a:t>Business Impact</a:t>
            </a:r>
            <a:endParaRPr lang="en-US" sz="4400" dirty="0">
              <a:latin typeface="Arial" charset="0"/>
              <a:ea typeface="Arial" charset="0"/>
              <a:cs typeface="Arial" charset="0"/>
            </a:endParaRPr>
          </a:p>
          <a:p>
            <a:endParaRPr lang="en-US" sz="4400" dirty="0"/>
          </a:p>
        </p:txBody>
      </p:sp>
      <p:sp>
        <p:nvSpPr>
          <p:cNvPr id="33" name="TextBox 32">
            <a:extLst>
              <a:ext uri="{FF2B5EF4-FFF2-40B4-BE49-F238E27FC236}">
                <a16:creationId xmlns:a16="http://schemas.microsoft.com/office/drawing/2014/main" id="{2871650D-A0A4-A928-D816-69B6CC617D24}"/>
              </a:ext>
            </a:extLst>
          </p:cNvPr>
          <p:cNvSpPr txBox="1"/>
          <p:nvPr/>
        </p:nvSpPr>
        <p:spPr>
          <a:xfrm>
            <a:off x="11491793" y="28016532"/>
            <a:ext cx="19692795" cy="2308324"/>
          </a:xfrm>
          <a:prstGeom prst="rect">
            <a:avLst/>
          </a:prstGeom>
          <a:noFill/>
        </p:spPr>
        <p:txBody>
          <a:bodyPr wrap="square">
            <a:spAutoFit/>
          </a:bodyPr>
          <a:lstStyle/>
          <a:p>
            <a:pPr marL="457200" indent="-457200" algn="just">
              <a:buFont typeface="Arial" panose="020B0604020202020204" pitchFamily="34" charset="0"/>
              <a:buChar char="•"/>
            </a:pPr>
            <a:r>
              <a:rPr lang="en-US" sz="3600" dirty="0"/>
              <a:t>Enables early, data-driven fault detection that minimizes unplanned downtime, reduces maintenance costs, and extends machinery lifespan through timely, targeted interventions.</a:t>
            </a:r>
          </a:p>
          <a:p>
            <a:pPr marL="457200" indent="-457200" algn="just">
              <a:buFont typeface="Arial" panose="020B0604020202020204" pitchFamily="34" charset="0"/>
              <a:buChar char="•"/>
            </a:pPr>
            <a:r>
              <a:rPr lang="en-US" sz="3600" dirty="0"/>
              <a:t>Enhances overall operational reliability and safety by preventing high-risk mechanical failures before they escalate into critical disruptions.</a:t>
            </a:r>
            <a:endParaRPr lang="en-US" sz="3500" dirty="0"/>
          </a:p>
        </p:txBody>
      </p:sp>
      <p:cxnSp>
        <p:nvCxnSpPr>
          <p:cNvPr id="34" name="Horizontal Section Divider" descr="Horizontal Divider">
            <a:extLst>
              <a:ext uri="{FF2B5EF4-FFF2-40B4-BE49-F238E27FC236}">
                <a16:creationId xmlns:a16="http://schemas.microsoft.com/office/drawing/2014/main" id="{10F91556-C197-06F8-A24F-32A295EF47A8}"/>
              </a:ext>
            </a:extLst>
          </p:cNvPr>
          <p:cNvCxnSpPr>
            <a:cxnSpLocks/>
          </p:cNvCxnSpPr>
          <p:nvPr/>
        </p:nvCxnSpPr>
        <p:spPr bwMode="auto">
          <a:xfrm>
            <a:off x="22276495" y="26954311"/>
            <a:ext cx="9144000" cy="0"/>
          </a:xfrm>
          <a:prstGeom prst="line">
            <a:avLst/>
          </a:prstGeom>
          <a:noFill/>
          <a:ln w="25400" cap="flat" cmpd="sng" algn="ctr">
            <a:solidFill>
              <a:schemeClr val="tx1"/>
            </a:solidFill>
            <a:prstDash val="dash"/>
            <a:round/>
            <a:headEnd type="none" w="med" len="med"/>
            <a:tailEnd type="none" w="med" len="med"/>
          </a:ln>
          <a:effectLst/>
        </p:spPr>
      </p:cxnSp>
      <p:cxnSp>
        <p:nvCxnSpPr>
          <p:cNvPr id="36" name="Horizontal Section Divider" descr="Horizontal Divider">
            <a:extLst>
              <a:ext uri="{FF2B5EF4-FFF2-40B4-BE49-F238E27FC236}">
                <a16:creationId xmlns:a16="http://schemas.microsoft.com/office/drawing/2014/main" id="{14F24BA3-57F4-2A63-1C98-0D6A9ACC9FD4}"/>
              </a:ext>
            </a:extLst>
          </p:cNvPr>
          <p:cNvCxnSpPr>
            <a:cxnSpLocks/>
          </p:cNvCxnSpPr>
          <p:nvPr/>
        </p:nvCxnSpPr>
        <p:spPr bwMode="auto">
          <a:xfrm>
            <a:off x="18661754" y="30810601"/>
            <a:ext cx="9144000" cy="0"/>
          </a:xfrm>
          <a:prstGeom prst="line">
            <a:avLst/>
          </a:prstGeom>
          <a:noFill/>
          <a:ln w="25400" cap="flat" cmpd="sng" algn="ctr">
            <a:solidFill>
              <a:schemeClr val="tx1"/>
            </a:solidFill>
            <a:prstDash val="dash"/>
            <a:round/>
            <a:headEnd type="none" w="med" len="med"/>
            <a:tailEnd type="none" w="med" len="med"/>
          </a:ln>
          <a:effectLst/>
        </p:spPr>
      </p:cxnSp>
    </p:spTree>
    <p:extLst>
      <p:ext uri="{BB962C8B-B14F-4D97-AF65-F5344CB8AC3E}">
        <p14:creationId xmlns:p14="http://schemas.microsoft.com/office/powerpoint/2010/main" val="2860189238"/>
      </p:ext>
    </p:extLst>
  </p:cSld>
  <p:clrMapOvr>
    <a:masterClrMapping/>
  </p:clrMapOvr>
</p:sld>
</file>

<file path=ppt/theme/theme1.xml><?xml version="1.0" encoding="utf-8"?>
<a:theme xmlns:a="http://schemas.openxmlformats.org/drawingml/2006/main" name="Research Poster Template">
  <a:themeElements>
    <a:clrScheme name="UB Color Palette">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1777</TotalTime>
  <Words>334</Words>
  <Application>Microsoft Macintosh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Research Poster Template</vt:lpstr>
      <vt:lpstr>PowerPoint Presentation</vt:lpstr>
    </vt:vector>
  </TitlesOfParts>
  <Manager/>
  <Company>© University at Buffalo</Company>
  <LinksUpToDate>false</LinksUpToDate>
  <SharedDoc>false</SharedDoc>
  <HyperlinkBase>www.buffalo.edu/brand</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Research Poster Template</dc:title>
  <dc:subject/>
  <dc:creator>abhi ds</dc:creator>
  <cp:keywords/>
  <dc:description/>
  <cp:lastModifiedBy>Atharva Ganesh Joshi</cp:lastModifiedBy>
  <cp:revision>72</cp:revision>
  <cp:lastPrinted>2016-09-29T19:48:31Z</cp:lastPrinted>
  <dcterms:created xsi:type="dcterms:W3CDTF">2016-09-29T18:43:16Z</dcterms:created>
  <dcterms:modified xsi:type="dcterms:W3CDTF">2025-12-04T21:22:04Z</dcterms:modified>
  <cp:category/>
</cp:coreProperties>
</file>